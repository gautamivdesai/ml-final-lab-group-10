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Biski" charset="1" panose="00000000000000000000"/>
      <p:regular r:id="rId30"/>
    </p:embeddedFont>
    <p:embeddedFont>
      <p:font typeface="Apricots" charset="1" panose="00000000000000000000"/>
      <p:regular r:id="rId31"/>
    </p:embeddedFont>
    <p:embeddedFont>
      <p:font typeface="ITC Benguiat" charset="1" panose="02030603050306020704"/>
      <p:regular r:id="rId32"/>
    </p:embeddedFont>
    <p:embeddedFont>
      <p:font typeface="Canva Sans" charset="1" panose="020B0503030501040103"/>
      <p:regular r:id="rId33"/>
    </p:embeddedFont>
    <p:embeddedFont>
      <p:font typeface="Canva Sans Bold" charset="1" panose="020B0803030501040103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" t="-1043" r="-984" b="-1004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6" r="0" b="-8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57986" y="2669770"/>
            <a:ext cx="659590" cy="435330"/>
            <a:chOff x="0" y="0"/>
            <a:chExt cx="635000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209550" y="0"/>
                  </a:moveTo>
                  <a:lnTo>
                    <a:pt x="425450" y="0"/>
                  </a:lnTo>
                  <a:cubicBezTo>
                    <a:pt x="541181" y="0"/>
                    <a:pt x="635000" y="93819"/>
                    <a:pt x="635000" y="209550"/>
                  </a:cubicBezTo>
                  <a:lnTo>
                    <a:pt x="635000" y="209550"/>
                  </a:lnTo>
                  <a:cubicBezTo>
                    <a:pt x="635000" y="325281"/>
                    <a:pt x="541181" y="419100"/>
                    <a:pt x="425450" y="419100"/>
                  </a:cubicBezTo>
                  <a:lnTo>
                    <a:pt x="209550" y="419100"/>
                  </a:lnTo>
                  <a:cubicBezTo>
                    <a:pt x="93819" y="419100"/>
                    <a:pt x="0" y="325281"/>
                    <a:pt x="0" y="2095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DEE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19075"/>
              <a:ext cx="6350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86578" y="2577605"/>
            <a:ext cx="202406" cy="52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0"/>
              </a:lnSpc>
              <a:spcBef>
                <a:spcPct val="0"/>
              </a:spcBef>
            </a:pPr>
            <a:r>
              <a:rPr lang="en-US" sz="2107">
                <a:solidFill>
                  <a:srgbClr val="000000"/>
                </a:solidFill>
                <a:latin typeface="Biski"/>
                <a:ea typeface="Biski"/>
                <a:cs typeface="Biski"/>
                <a:sym typeface="Biski"/>
              </a:rPr>
              <a:t>&amp;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9" r="0" b="-13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93" r="0" b="-79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4170" y="8571180"/>
            <a:ext cx="12933504" cy="3071707"/>
          </a:xfrm>
          <a:custGeom>
            <a:avLst/>
            <a:gdLst/>
            <a:ahLst/>
            <a:cxnLst/>
            <a:rect r="r" b="b" t="t" l="l"/>
            <a:pathLst>
              <a:path h="3071707" w="12933504">
                <a:moveTo>
                  <a:pt x="0" y="0"/>
                </a:moveTo>
                <a:lnTo>
                  <a:pt x="12933504" y="0"/>
                </a:lnTo>
                <a:lnTo>
                  <a:pt x="12933504" y="3071707"/>
                </a:lnTo>
                <a:lnTo>
                  <a:pt x="0" y="3071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11372" y="2544753"/>
            <a:ext cx="7865256" cy="114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A5444A"/>
                </a:solidFill>
                <a:latin typeface="Apricots"/>
                <a:ea typeface="Apricots"/>
                <a:cs typeface="Apricots"/>
                <a:sym typeface="Apricots"/>
              </a:rPr>
              <a:t>ALGORITHMS USED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13174" y="4420418"/>
            <a:ext cx="8782308" cy="4562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55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BASELINE (MEAN) </a:t>
            </a:r>
          </a:p>
          <a:p>
            <a:pPr algn="ctr">
              <a:lnSpc>
                <a:spcPts val="4951"/>
              </a:lnSpc>
            </a:pPr>
            <a:r>
              <a:rPr lang="en-US" sz="55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LINEAR REGRESSION RIDGE REGRESSION DECISION TREE</a:t>
            </a:r>
          </a:p>
          <a:p>
            <a:pPr algn="ctr">
              <a:lnSpc>
                <a:spcPts val="4951"/>
              </a:lnSpc>
            </a:pPr>
            <a:r>
              <a:rPr lang="en-US" sz="55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 RANDOM FOREST</a:t>
            </a:r>
          </a:p>
          <a:p>
            <a:pPr algn="ctr">
              <a:lnSpc>
                <a:spcPts val="4951"/>
              </a:lnSpc>
            </a:pPr>
            <a:r>
              <a:rPr lang="en-US" sz="55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 LIGHTGBM</a:t>
            </a:r>
          </a:p>
          <a:p>
            <a:pPr algn="ctr">
              <a:lnSpc>
                <a:spcPts val="4951"/>
              </a:lnSpc>
            </a:pPr>
            <a:r>
              <a:rPr lang="en-US" sz="55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 XGBOOST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030" y="572333"/>
            <a:ext cx="18288000" cy="155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2"/>
              </a:lnSpc>
            </a:pPr>
            <a:r>
              <a:rPr lang="en-US" sz="11899">
                <a:solidFill>
                  <a:srgbClr val="A5444A"/>
                </a:solidFill>
                <a:latin typeface="Apricots"/>
                <a:ea typeface="Apricots"/>
                <a:cs typeface="Apricots"/>
                <a:sym typeface="Apricots"/>
              </a:rPr>
              <a:t>Machine Learning Approach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6361" y="288326"/>
            <a:ext cx="17951639" cy="896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1"/>
              </a:lnSpc>
              <a:spcBef>
                <a:spcPct val="0"/>
              </a:spcBef>
            </a:pPr>
            <a:r>
              <a:rPr lang="en-US" sz="46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WHY THESE MODELS WERE SELECTED</a:t>
            </a:r>
          </a:p>
          <a:p>
            <a:pPr algn="ctr">
              <a:lnSpc>
                <a:spcPts val="6441"/>
              </a:lnSpc>
              <a:spcBef>
                <a:spcPct val="0"/>
              </a:spcBef>
            </a:pPr>
          </a:p>
          <a:p>
            <a:pPr algn="ctr">
              <a:lnSpc>
                <a:spcPts val="6441"/>
              </a:lnSpc>
              <a:spcBef>
                <a:spcPct val="0"/>
              </a:spcBef>
            </a:pPr>
          </a:p>
          <a:p>
            <a:pPr algn="ctr">
              <a:lnSpc>
                <a:spcPts val="6441"/>
              </a:lnSpc>
              <a:spcBef>
                <a:spcPct val="0"/>
              </a:spcBef>
            </a:pPr>
            <a:r>
              <a:rPr lang="en-US" sz="46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SPAN THE BIAS-VARIANCE SPECTRUM, NOT PICKED ARBITRARILY</a:t>
            </a:r>
          </a:p>
          <a:p>
            <a:pPr algn="ctr">
              <a:lnSpc>
                <a:spcPts val="6441"/>
              </a:lnSpc>
              <a:spcBef>
                <a:spcPct val="0"/>
              </a:spcBef>
            </a:pPr>
            <a:r>
              <a:rPr lang="en-US" sz="46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BASELINE = FLOOR EVERY MODEL MUST BEAT</a:t>
            </a:r>
          </a:p>
          <a:p>
            <a:pPr algn="ctr">
              <a:lnSpc>
                <a:spcPts val="6441"/>
              </a:lnSpc>
              <a:spcBef>
                <a:spcPct val="0"/>
              </a:spcBef>
            </a:pPr>
            <a:r>
              <a:rPr lang="en-US" sz="46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LINEAR/RIDGE = TEST IF THE RELATIONSHIP IS SIMPLE/LINEAR</a:t>
            </a:r>
          </a:p>
          <a:p>
            <a:pPr algn="ctr">
              <a:lnSpc>
                <a:spcPts val="6441"/>
              </a:lnSpc>
              <a:spcBef>
                <a:spcPct val="0"/>
              </a:spcBef>
            </a:pPr>
            <a:r>
              <a:rPr lang="en-US" sz="46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DECISION TREE = SHOWS THE OVERFITTING FAILURE MODE</a:t>
            </a:r>
          </a:p>
          <a:p>
            <a:pPr algn="ctr">
              <a:lnSpc>
                <a:spcPts val="6441"/>
              </a:lnSpc>
              <a:spcBef>
                <a:spcPct val="0"/>
              </a:spcBef>
            </a:pPr>
            <a:r>
              <a:rPr lang="en-US" sz="46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RANDOM FOREST, LIGHTGBM, XGBOOST = THREE DIFFERENT ENSEMBLE STRATEGIES FOR THE NON-LINEAR GEOGRAPHY EFFECT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4546" y="212888"/>
            <a:ext cx="14278908" cy="105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1"/>
              </a:lnSpc>
              <a:spcBef>
                <a:spcPct val="0"/>
              </a:spcBef>
            </a:pPr>
            <a:r>
              <a:rPr lang="en-US" sz="55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HYPERPARAMETER TUNING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3312" y="1349690"/>
            <a:ext cx="18288000" cy="688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1"/>
              </a:lnSpc>
              <a:spcBef>
                <a:spcPct val="0"/>
              </a:spcBef>
            </a:pPr>
            <a:r>
              <a:rPr lang="en-US" sz="55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RANDOMIZEDSEARCHCV (20 ITERATIONS) FOR LIGHTGBM — LARGE SEARCH SPACE (6 HYPERPARAMETERS)</a:t>
            </a:r>
          </a:p>
          <a:p>
            <a:pPr algn="ctr">
              <a:lnSpc>
                <a:spcPts val="7701"/>
              </a:lnSpc>
              <a:spcBef>
                <a:spcPct val="0"/>
              </a:spcBef>
            </a:pPr>
          </a:p>
          <a:p>
            <a:pPr algn="ctr">
              <a:lnSpc>
                <a:spcPts val="7701"/>
              </a:lnSpc>
              <a:spcBef>
                <a:spcPct val="0"/>
              </a:spcBef>
            </a:pPr>
            <a:r>
              <a:rPr lang="en-US" sz="5501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GRIDSEARCHCV FOR SIMPLER MODELS (RIDGE, DECISION TREE) — SMALL SEARCH SPACE, EXHAUSTIVE SEARCH IS CHEAP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43500"/>
            <a:ext cx="18135854" cy="2607688"/>
          </a:xfrm>
          <a:custGeom>
            <a:avLst/>
            <a:gdLst/>
            <a:ahLst/>
            <a:cxnLst/>
            <a:rect r="r" b="b" t="t" l="l"/>
            <a:pathLst>
              <a:path h="2607688" w="18135854">
                <a:moveTo>
                  <a:pt x="0" y="0"/>
                </a:moveTo>
                <a:lnTo>
                  <a:pt x="18135854" y="0"/>
                </a:lnTo>
                <a:lnTo>
                  <a:pt x="18135854" y="2607688"/>
                </a:lnTo>
                <a:lnTo>
                  <a:pt x="0" y="2607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401" r="0" b="-64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192929"/>
            <a:ext cx="18288000" cy="2601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2"/>
              </a:lnSpc>
              <a:spcBef>
                <a:spcPct val="0"/>
              </a:spcBef>
            </a:pPr>
            <a:r>
              <a:rPr lang="en-US" sz="5344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Final selected model</a:t>
            </a:r>
          </a:p>
          <a:p>
            <a:pPr algn="ctr">
              <a:lnSpc>
                <a:spcPts val="6212"/>
              </a:lnSpc>
              <a:spcBef>
                <a:spcPct val="0"/>
              </a:spcBef>
            </a:pPr>
            <a:r>
              <a:rPr lang="en-US" sz="4437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LightGBM — selected by lowest CV RMSE(0.4412), not assumed in advance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54435" y="752475"/>
            <a:ext cx="10179130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MODEL PERFORMANCE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3205" y="2668907"/>
            <a:ext cx="1566426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Where the Model Performs Well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205" y="6671312"/>
            <a:ext cx="15237748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Capping: </a:t>
            </a:r>
            <a:r>
              <a:rPr lang="en-US" sz="2799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Struggles with ultra-luxury homes due to the dataset's hard ceiling at $500,001.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Coastal Outliers: </a:t>
            </a:r>
            <a:r>
              <a:rPr lang="en-US" sz="2799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Higher errors in crowded coastal and high-income areas due to extreme price variations.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33205" y="5753737"/>
            <a:ext cx="1566426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Where the Model Performs Poorly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3205" y="3586482"/>
            <a:ext cx="1522708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Suburban Homes:</a:t>
            </a:r>
            <a:r>
              <a:rPr lang="en-US" sz="2799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 Highly accurate for typical, moderately priced houses.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Balanced Predictions: </a:t>
            </a:r>
            <a:r>
              <a:rPr lang="en-US" sz="2799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Near-zero mean residual, showing no systematic over- or under-prediction overall.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11011" y="36004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5444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RMSE</a:t>
              </a:r>
            </a:p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0.432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68513" y="647700"/>
            <a:ext cx="12550973" cy="189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MODEL EVALUATION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204936" y="3600450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5444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MAE</a:t>
              </a:r>
            </a:p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0.280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16436" y="3600450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5444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Residual R²</a:t>
              </a:r>
            </a:p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0.858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53696" y="733425"/>
            <a:ext cx="10580609" cy="146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  <a:spcBef>
                <a:spcPct val="0"/>
              </a:spcBef>
            </a:pPr>
            <a:r>
              <a:rPr lang="en-US" sz="7700">
                <a:solidFill>
                  <a:srgbClr val="A5444A"/>
                </a:solidFill>
                <a:latin typeface="ITC Benguiat"/>
                <a:ea typeface="ITC Benguiat"/>
                <a:cs typeface="ITC Benguiat"/>
                <a:sym typeface="ITC Benguiat"/>
              </a:rPr>
              <a:t>WHY THESE METRICS?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1870" y="2888933"/>
            <a:ext cx="15664260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Continuous Target: The target variable (MedHouseVal) is a continuous number, making this a regression problem.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MAE: Measures the average absolute error in real dollar terms.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RMSE: Penalizes larger prediction errors more heavily, highlighting big misses.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Residual R²: Shows the proportion of variance explained by our model (goodness of fit).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70772" y="284049"/>
            <a:ext cx="18084342" cy="8909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b="true" sz="3604" strike="noStrike" u="none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Demonstration of ML Prediction Pipeline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b="true" sz="3604" strike="noStrike" u="none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Working Project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sz="3604" strike="noStrike" u="none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Load trained model: best_model.pkl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sz="3604" strike="noStrike" u="none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Model loaded using Joblib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sz="3604" strike="noStrike" u="none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Use the trained pipeline for prediction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b="true" sz="3604" strike="noStrike" u="none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Sample Input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sz="3604" strike="noStrike" u="none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8 features: MedInc, HouseAge, AveRooms, AveBedrms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sz="3604" strike="noStrike" u="none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Population, AveOccup, Latitude, Longitude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sz="3604" strike="noStrike" u="none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Sample values are entered into the prediction function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b="true" sz="3604" strike="noStrike" u="none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Prediction Process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sz="3604" strike="noStrike" u="none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 Input → Validation → Preprocessing → ML Model → Prediction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sz="3604" strike="noStrike" u="none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Checks missing values and data types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sz="3604" strike="noStrike" u="none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Saved pipeline performs preprocessing</a:t>
            </a:r>
          </a:p>
          <a:p>
            <a:pPr algn="ctr" marL="0" indent="0" lvl="0">
              <a:lnSpc>
                <a:spcPts val="5046"/>
              </a:lnSpc>
              <a:spcBef>
                <a:spcPct val="0"/>
              </a:spcBef>
            </a:pPr>
            <a:r>
              <a:rPr lang="en-US" sz="3604" strike="noStrike" u="none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predict_house_price() generates the output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611" y="278178"/>
            <a:ext cx="16920046" cy="954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b="true" sz="3638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</a:t>
            </a:r>
            <a:r>
              <a:rPr lang="en-US" b="true" sz="3638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Predicted Output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sz="363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Prediction: 2.71583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sz="363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≈ $271,583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sz="363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Average inference latency: 19.11 ms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b="true" sz="3638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Input Validation Demo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sz="363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Set AveRooms = None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sz="363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System detects invalid input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sz="363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“Input contains missing values.”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b="true" sz="3638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Reliability Test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sz="363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Same input tested twice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sz="363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Both predictions: 2.71583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sz="363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Shows consistent/reproducible output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b="true" sz="3638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 Backup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sz="363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Screenshot of successful prediction</a:t>
            </a:r>
          </a:p>
          <a:p>
            <a:pPr algn="ctr">
              <a:lnSpc>
                <a:spcPts val="5094"/>
              </a:lnSpc>
              <a:spcBef>
                <a:spcPct val="0"/>
              </a:spcBef>
            </a:pPr>
            <a:r>
              <a:rPr lang="en-US" sz="363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Screenshot of invalid-input validation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6184" y="-57150"/>
            <a:ext cx="799700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9. Challenges &amp; Improvements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829018" y="1009034"/>
            <a:ext cx="10230806" cy="854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b="true" sz="4035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🔴 Challenges</a:t>
            </a:r>
          </a:p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sz="4035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Missing / invalid input values</a:t>
            </a:r>
          </a:p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sz="4035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Correct 8-feature format</a:t>
            </a:r>
          </a:p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sz="4035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Prediction consistency</a:t>
            </a:r>
          </a:p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sz="4035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Inference latency</a:t>
            </a:r>
          </a:p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sz="4035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Notebook execution issues</a:t>
            </a:r>
          </a:p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b="true" sz="4035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🟡 Solutions</a:t>
            </a:r>
          </a:p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sz="4035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Input validation</a:t>
            </a:r>
          </a:p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sz="4035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Saved preprocessing pipeline</a:t>
            </a:r>
          </a:p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sz="4035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Reproducibility testing</a:t>
            </a:r>
          </a:p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sz="4035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Latency benchmarking</a:t>
            </a:r>
          </a:p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sz="4035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Backup screenshots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55567" y="952500"/>
            <a:ext cx="8385324" cy="75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5"/>
              </a:lnSpc>
              <a:spcBef>
                <a:spcPct val="0"/>
              </a:spcBef>
            </a:pPr>
            <a:r>
              <a:rPr lang="en-US" b="true" sz="3918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🔵 Limitations</a:t>
            </a:r>
          </a:p>
          <a:p>
            <a:pPr algn="ctr">
              <a:lnSpc>
                <a:spcPts val="5485"/>
              </a:lnSpc>
              <a:spcBef>
                <a:spcPct val="0"/>
              </a:spcBef>
            </a:pPr>
            <a:r>
              <a:rPr lang="en-US" sz="391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Depends on valid input data</a:t>
            </a:r>
          </a:p>
          <a:p>
            <a:pPr algn="ctr">
              <a:lnSpc>
                <a:spcPts val="5485"/>
              </a:lnSpc>
              <a:spcBef>
                <a:spcPct val="0"/>
              </a:spcBef>
            </a:pPr>
            <a:r>
              <a:rPr lang="en-US" sz="391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Latency can vary by environment</a:t>
            </a:r>
          </a:p>
          <a:p>
            <a:pPr algn="ctr">
              <a:lnSpc>
                <a:spcPts val="5485"/>
              </a:lnSpc>
              <a:spcBef>
                <a:spcPct val="0"/>
              </a:spcBef>
            </a:pPr>
            <a:r>
              <a:rPr lang="en-US" sz="391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Current demo is notebook-based</a:t>
            </a:r>
          </a:p>
          <a:p>
            <a:pPr algn="ctr">
              <a:lnSpc>
                <a:spcPts val="5485"/>
              </a:lnSpc>
              <a:spcBef>
                <a:spcPct val="0"/>
              </a:spcBef>
            </a:pPr>
            <a:r>
              <a:rPr lang="en-US" sz="391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No separate interactive </a:t>
            </a:r>
          </a:p>
          <a:p>
            <a:pPr algn="ctr">
              <a:lnSpc>
                <a:spcPts val="5485"/>
              </a:lnSpc>
              <a:spcBef>
                <a:spcPct val="0"/>
              </a:spcBef>
            </a:pPr>
            <a:r>
              <a:rPr lang="en-US" sz="391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 application in reviewed section</a:t>
            </a:r>
          </a:p>
          <a:p>
            <a:pPr algn="ctr">
              <a:lnSpc>
                <a:spcPts val="5485"/>
              </a:lnSpc>
              <a:spcBef>
                <a:spcPct val="0"/>
              </a:spcBef>
            </a:pPr>
            <a:r>
              <a:rPr lang="en-US" b="true" sz="3918">
                <a:solidFill>
                  <a:srgbClr val="A5444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🟢 Future Improvements</a:t>
            </a:r>
          </a:p>
          <a:p>
            <a:pPr algn="ctr">
              <a:lnSpc>
                <a:spcPts val="5485"/>
              </a:lnSpc>
              <a:spcBef>
                <a:spcPct val="0"/>
              </a:spcBef>
            </a:pPr>
            <a:r>
              <a:rPr lang="en-US" sz="391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Interactive prediction application</a:t>
            </a:r>
          </a:p>
          <a:p>
            <a:pPr algn="ctr">
              <a:lnSpc>
                <a:spcPts val="5485"/>
              </a:lnSpc>
              <a:spcBef>
                <a:spcPct val="0"/>
              </a:spcBef>
            </a:pPr>
            <a:r>
              <a:rPr lang="en-US" sz="391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Stronger validation</a:t>
            </a:r>
          </a:p>
          <a:p>
            <a:pPr algn="ctr">
              <a:lnSpc>
                <a:spcPts val="5485"/>
              </a:lnSpc>
              <a:spcBef>
                <a:spcPct val="0"/>
              </a:spcBef>
            </a:pPr>
            <a:r>
              <a:rPr lang="en-US" sz="391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More data and testing</a:t>
            </a:r>
          </a:p>
          <a:p>
            <a:pPr algn="ctr">
              <a:lnSpc>
                <a:spcPts val="5485"/>
              </a:lnSpc>
              <a:spcBef>
                <a:spcPct val="0"/>
              </a:spcBef>
            </a:pPr>
            <a:r>
              <a:rPr lang="en-US" sz="3918">
                <a:solidFill>
                  <a:srgbClr val="A5444A"/>
                </a:solidFill>
                <a:latin typeface="Canva Sans"/>
                <a:ea typeface="Canva Sans"/>
                <a:cs typeface="Canva Sans"/>
                <a:sym typeface="Canva Sans"/>
              </a:rPr>
              <a:t>Better monitoring and logging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8" r="0" b="-678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88781" y="2356330"/>
            <a:ext cx="9108402" cy="8402501"/>
          </a:xfrm>
          <a:custGeom>
            <a:avLst/>
            <a:gdLst/>
            <a:ahLst/>
            <a:cxnLst/>
            <a:rect r="r" b="b" t="t" l="l"/>
            <a:pathLst>
              <a:path h="8402501" w="9108402">
                <a:moveTo>
                  <a:pt x="0" y="0"/>
                </a:moveTo>
                <a:lnTo>
                  <a:pt x="9108402" y="0"/>
                </a:lnTo>
                <a:lnTo>
                  <a:pt x="9108402" y="8402502"/>
                </a:lnTo>
                <a:lnTo>
                  <a:pt x="0" y="8402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0237" y="7248236"/>
            <a:ext cx="14781453" cy="3510595"/>
          </a:xfrm>
          <a:custGeom>
            <a:avLst/>
            <a:gdLst/>
            <a:ahLst/>
            <a:cxnLst/>
            <a:rect r="r" b="b" t="t" l="l"/>
            <a:pathLst>
              <a:path h="3510595" w="14781453">
                <a:moveTo>
                  <a:pt x="0" y="0"/>
                </a:moveTo>
                <a:lnTo>
                  <a:pt x="14781453" y="0"/>
                </a:lnTo>
                <a:lnTo>
                  <a:pt x="14781453" y="3510596"/>
                </a:lnTo>
                <a:lnTo>
                  <a:pt x="0" y="3510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608607">
            <a:off x="9144000" y="1028700"/>
            <a:ext cx="1656693" cy="1586284"/>
          </a:xfrm>
          <a:custGeom>
            <a:avLst/>
            <a:gdLst/>
            <a:ahLst/>
            <a:cxnLst/>
            <a:rect r="r" b="b" t="t" l="l"/>
            <a:pathLst>
              <a:path h="1586284" w="1656693">
                <a:moveTo>
                  <a:pt x="0" y="0"/>
                </a:moveTo>
                <a:lnTo>
                  <a:pt x="1656693" y="0"/>
                </a:lnTo>
                <a:lnTo>
                  <a:pt x="1656693" y="1586284"/>
                </a:lnTo>
                <a:lnTo>
                  <a:pt x="0" y="1586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5696" y="3150989"/>
            <a:ext cx="6988304" cy="163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8"/>
              </a:lnSpc>
            </a:pPr>
            <a:r>
              <a:rPr lang="en-US" sz="12380">
                <a:solidFill>
                  <a:srgbClr val="A5444A"/>
                </a:solidFill>
                <a:latin typeface="Apricots"/>
                <a:ea typeface="Apricots"/>
                <a:cs typeface="Apricots"/>
                <a:sym typeface="Apricots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-1964348">
            <a:off x="1297393" y="5764439"/>
            <a:ext cx="1656693" cy="1586284"/>
          </a:xfrm>
          <a:custGeom>
            <a:avLst/>
            <a:gdLst/>
            <a:ahLst/>
            <a:cxnLst/>
            <a:rect r="r" b="b" t="t" l="l"/>
            <a:pathLst>
              <a:path h="1586284" w="1656693">
                <a:moveTo>
                  <a:pt x="1656693" y="0"/>
                </a:moveTo>
                <a:lnTo>
                  <a:pt x="0" y="0"/>
                </a:lnTo>
                <a:lnTo>
                  <a:pt x="0" y="1586284"/>
                </a:lnTo>
                <a:lnTo>
                  <a:pt x="1656693" y="1586284"/>
                </a:lnTo>
                <a:lnTo>
                  <a:pt x="165669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608607">
            <a:off x="16430953" y="2411278"/>
            <a:ext cx="1656693" cy="1586284"/>
          </a:xfrm>
          <a:custGeom>
            <a:avLst/>
            <a:gdLst/>
            <a:ahLst/>
            <a:cxnLst/>
            <a:rect r="r" b="b" t="t" l="l"/>
            <a:pathLst>
              <a:path h="1586284" w="1656693">
                <a:moveTo>
                  <a:pt x="0" y="0"/>
                </a:moveTo>
                <a:lnTo>
                  <a:pt x="1656694" y="0"/>
                </a:lnTo>
                <a:lnTo>
                  <a:pt x="1656694" y="1586283"/>
                </a:lnTo>
                <a:lnTo>
                  <a:pt x="0" y="158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964348">
            <a:off x="7798885" y="7469883"/>
            <a:ext cx="1140425" cy="1091957"/>
          </a:xfrm>
          <a:custGeom>
            <a:avLst/>
            <a:gdLst/>
            <a:ahLst/>
            <a:cxnLst/>
            <a:rect r="r" b="b" t="t" l="l"/>
            <a:pathLst>
              <a:path h="1091957" w="1140425">
                <a:moveTo>
                  <a:pt x="1140425" y="0"/>
                </a:moveTo>
                <a:lnTo>
                  <a:pt x="0" y="0"/>
                </a:lnTo>
                <a:lnTo>
                  <a:pt x="0" y="1091956"/>
                </a:lnTo>
                <a:lnTo>
                  <a:pt x="1140425" y="1091956"/>
                </a:lnTo>
                <a:lnTo>
                  <a:pt x="114042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26143">
            <a:off x="3825104" y="6623614"/>
            <a:ext cx="1656693" cy="1586284"/>
          </a:xfrm>
          <a:custGeom>
            <a:avLst/>
            <a:gdLst/>
            <a:ahLst/>
            <a:cxnLst/>
            <a:rect r="r" b="b" t="t" l="l"/>
            <a:pathLst>
              <a:path h="1586284" w="1656693">
                <a:moveTo>
                  <a:pt x="0" y="0"/>
                </a:moveTo>
                <a:lnTo>
                  <a:pt x="1656693" y="0"/>
                </a:lnTo>
                <a:lnTo>
                  <a:pt x="1656693" y="1586283"/>
                </a:lnTo>
                <a:lnTo>
                  <a:pt x="0" y="158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37589" y="0"/>
            <a:ext cx="11812823" cy="10287000"/>
          </a:xfrm>
          <a:custGeom>
            <a:avLst/>
            <a:gdLst/>
            <a:ahLst/>
            <a:cxnLst/>
            <a:rect r="r" b="b" t="t" l="l"/>
            <a:pathLst>
              <a:path h="10287000" w="11812823">
                <a:moveTo>
                  <a:pt x="0" y="0"/>
                </a:moveTo>
                <a:lnTo>
                  <a:pt x="11812822" y="0"/>
                </a:lnTo>
                <a:lnTo>
                  <a:pt x="118128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29272" y="0"/>
            <a:ext cx="14429456" cy="10287000"/>
          </a:xfrm>
          <a:custGeom>
            <a:avLst/>
            <a:gdLst/>
            <a:ahLst/>
            <a:cxnLst/>
            <a:rect r="r" b="b" t="t" l="l"/>
            <a:pathLst>
              <a:path h="10287000" w="14429456">
                <a:moveTo>
                  <a:pt x="0" y="0"/>
                </a:moveTo>
                <a:lnTo>
                  <a:pt x="14429456" y="0"/>
                </a:lnTo>
                <a:lnTo>
                  <a:pt x="144294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7468" y="0"/>
            <a:ext cx="9230627" cy="5966460"/>
          </a:xfrm>
          <a:custGeom>
            <a:avLst/>
            <a:gdLst/>
            <a:ahLst/>
            <a:cxnLst/>
            <a:rect r="r" b="b" t="t" l="l"/>
            <a:pathLst>
              <a:path h="5966460" w="9230627">
                <a:moveTo>
                  <a:pt x="0" y="0"/>
                </a:moveTo>
                <a:lnTo>
                  <a:pt x="9230627" y="0"/>
                </a:lnTo>
                <a:lnTo>
                  <a:pt x="9230627" y="5966460"/>
                </a:lnTo>
                <a:lnTo>
                  <a:pt x="0" y="596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63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13159" y="3580427"/>
            <a:ext cx="10077315" cy="5979075"/>
          </a:xfrm>
          <a:custGeom>
            <a:avLst/>
            <a:gdLst/>
            <a:ahLst/>
            <a:cxnLst/>
            <a:rect r="r" b="b" t="t" l="l"/>
            <a:pathLst>
              <a:path h="5979075" w="10077315">
                <a:moveTo>
                  <a:pt x="0" y="0"/>
                </a:moveTo>
                <a:lnTo>
                  <a:pt x="10077315" y="0"/>
                </a:lnTo>
                <a:lnTo>
                  <a:pt x="10077315" y="5979074"/>
                </a:lnTo>
                <a:lnTo>
                  <a:pt x="0" y="5979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6003" y="0"/>
            <a:ext cx="12267142" cy="5370847"/>
          </a:xfrm>
          <a:custGeom>
            <a:avLst/>
            <a:gdLst/>
            <a:ahLst/>
            <a:cxnLst/>
            <a:rect r="r" b="b" t="t" l="l"/>
            <a:pathLst>
              <a:path h="5370847" w="12267142">
                <a:moveTo>
                  <a:pt x="0" y="0"/>
                </a:moveTo>
                <a:lnTo>
                  <a:pt x="12267142" y="0"/>
                </a:lnTo>
                <a:lnTo>
                  <a:pt x="12267142" y="5370847"/>
                </a:lnTo>
                <a:lnTo>
                  <a:pt x="0" y="5370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50480" y="4733054"/>
            <a:ext cx="10469936" cy="5868380"/>
          </a:xfrm>
          <a:custGeom>
            <a:avLst/>
            <a:gdLst/>
            <a:ahLst/>
            <a:cxnLst/>
            <a:rect r="r" b="b" t="t" l="l"/>
            <a:pathLst>
              <a:path h="5868380" w="10469936">
                <a:moveTo>
                  <a:pt x="0" y="0"/>
                </a:moveTo>
                <a:lnTo>
                  <a:pt x="10469936" y="0"/>
                </a:lnTo>
                <a:lnTo>
                  <a:pt x="10469936" y="5868380"/>
                </a:lnTo>
                <a:lnTo>
                  <a:pt x="0" y="5868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43329"/>
            <a:ext cx="11782472" cy="10330329"/>
          </a:xfrm>
          <a:custGeom>
            <a:avLst/>
            <a:gdLst/>
            <a:ahLst/>
            <a:cxnLst/>
            <a:rect r="r" b="b" t="t" l="l"/>
            <a:pathLst>
              <a:path h="10330329" w="11782472">
                <a:moveTo>
                  <a:pt x="0" y="0"/>
                </a:moveTo>
                <a:lnTo>
                  <a:pt x="11782472" y="0"/>
                </a:lnTo>
                <a:lnTo>
                  <a:pt x="11782472" y="10330329"/>
                </a:lnTo>
                <a:lnTo>
                  <a:pt x="0" y="10330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964" t="-3190" r="-13607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53162" y="296790"/>
            <a:ext cx="12766635" cy="9990210"/>
          </a:xfrm>
          <a:custGeom>
            <a:avLst/>
            <a:gdLst/>
            <a:ahLst/>
            <a:cxnLst/>
            <a:rect r="r" b="b" t="t" l="l"/>
            <a:pathLst>
              <a:path h="9990210" w="12766635">
                <a:moveTo>
                  <a:pt x="0" y="0"/>
                </a:moveTo>
                <a:lnTo>
                  <a:pt x="12766636" y="0"/>
                </a:lnTo>
                <a:lnTo>
                  <a:pt x="12766636" y="9990210"/>
                </a:lnTo>
                <a:lnTo>
                  <a:pt x="0" y="999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69" t="0" r="-5669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0811" y="0"/>
            <a:ext cx="14546485" cy="10287000"/>
          </a:xfrm>
          <a:custGeom>
            <a:avLst/>
            <a:gdLst/>
            <a:ahLst/>
            <a:cxnLst/>
            <a:rect r="r" b="b" t="t" l="l"/>
            <a:pathLst>
              <a:path h="10287000" w="14546485">
                <a:moveTo>
                  <a:pt x="0" y="0"/>
                </a:moveTo>
                <a:lnTo>
                  <a:pt x="14546485" y="0"/>
                </a:lnTo>
                <a:lnTo>
                  <a:pt x="145464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" t="-4566" r="0" b="-962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692" y="318658"/>
            <a:ext cx="14954917" cy="8483803"/>
          </a:xfrm>
          <a:custGeom>
            <a:avLst/>
            <a:gdLst/>
            <a:ahLst/>
            <a:cxnLst/>
            <a:rect r="r" b="b" t="t" l="l"/>
            <a:pathLst>
              <a:path h="8483803" w="14954917">
                <a:moveTo>
                  <a:pt x="0" y="0"/>
                </a:moveTo>
                <a:lnTo>
                  <a:pt x="14954918" y="0"/>
                </a:lnTo>
                <a:lnTo>
                  <a:pt x="14954918" y="8483803"/>
                </a:lnTo>
                <a:lnTo>
                  <a:pt x="0" y="8483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88" t="0" r="-31849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DAHWZ1l9ERY</dc:identifier>
  <dcterms:modified xsi:type="dcterms:W3CDTF">2011-08-01T06:04:30Z</dcterms:modified>
  <cp:revision>1</cp:revision>
  <dc:title>ML-Group 10 </dc:title>
</cp:coreProperties>
</file>